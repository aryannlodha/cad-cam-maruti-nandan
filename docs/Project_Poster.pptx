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5119350" cy="21383625"/>
  <p:notesSz cx="6858000" cy="9144000"/>
  <p:embeddedFontLst>
    <p:embeddedFont>
      <p:font typeface="Bookman Old Style" panose="02050604050505020204" pitchFamily="18" charset="0"/>
      <p:regular r:id="rId4"/>
      <p:bold r:id="rId5"/>
      <p:italic r:id="rId6"/>
      <p:boldItalic r:id="rId7"/>
    </p:embeddedFont>
    <p:embeddedFont>
      <p:font typeface="Comic Sans MS" panose="030F0702030302020204" pitchFamily="66" charset="0"/>
      <p:regular r:id="rId8"/>
      <p:bold r:id="rId9"/>
      <p:italic r:id="rId10"/>
      <p:boldItalic r:id="rId11"/>
    </p:embeddedFont>
    <p:embeddedFont>
      <p:font typeface="Georgia" panose="02040502050405020303" pitchFamily="18" charset="0"/>
      <p:regular r:id="rId12"/>
      <p:bold r:id="rId13"/>
      <p:italic r:id="rId14"/>
      <p:boldItalic r:id="rId15"/>
    </p:embeddedFont>
    <p:embeddedFont>
      <p:font typeface="Playfair Display" panose="00000500000000000000" pitchFamily="2" charset="0"/>
      <p:regular r:id="rId16"/>
      <p:bold r:id="rId17"/>
      <p:italic r:id="rId18"/>
      <p:boldItalic r:id="rId19"/>
    </p:embeddedFont>
    <p:embeddedFont>
      <p:font typeface="Tahoma" panose="020B0604030504040204" pitchFamily="34" charset="0"/>
      <p:regular r:id="rId20"/>
      <p:bold r:id="rId21"/>
    </p:embeddedFont>
    <p:embeddedFont>
      <p:font typeface="Trebuchet MS" panose="020B0603020202020204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 userDrawn="1">
          <p15:clr>
            <a:srgbClr val="A4A3A4"/>
          </p15:clr>
        </p15:guide>
        <p15:guide id="2" pos="47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58" autoAdjust="0"/>
  </p:normalViewPr>
  <p:slideViewPr>
    <p:cSldViewPr snapToGrid="0">
      <p:cViewPr>
        <p:scale>
          <a:sx n="50" d="100"/>
          <a:sy n="50" d="100"/>
        </p:scale>
        <p:origin x="1445" y="-53"/>
      </p:cViewPr>
      <p:guideLst>
        <p:guide orient="horz" pos="6735"/>
        <p:guide pos="47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26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font" Target="fonts/font18.fntdata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5" Type="http://schemas.openxmlformats.org/officeDocument/2006/relationships/font" Target="fonts/font22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font" Target="fonts/font1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font" Target="fonts/font21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font" Target="fonts/font20.fntdata"/><Relationship Id="rId28" Type="http://schemas.openxmlformats.org/officeDocument/2006/relationships/theme" Target="theme/theme1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font" Target="fonts/font19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shavamurthy YC" userId="bf6a1185fec05998" providerId="LiveId" clId="{DFF3F985-E1C4-4C93-9341-E6091D18B275}"/>
    <pc:docChg chg="undo custSel modSld">
      <pc:chgData name="Keshavamurthy YC" userId="bf6a1185fec05998" providerId="LiveId" clId="{DFF3F985-E1C4-4C93-9341-E6091D18B275}" dt="2024-07-03T07:33:03.824" v="78" actId="20577"/>
      <pc:docMkLst>
        <pc:docMk/>
      </pc:docMkLst>
      <pc:sldChg chg="modSp mod">
        <pc:chgData name="Keshavamurthy YC" userId="bf6a1185fec05998" providerId="LiveId" clId="{DFF3F985-E1C4-4C93-9341-E6091D18B275}" dt="2024-07-03T07:33:03.824" v="78" actId="20577"/>
        <pc:sldMkLst>
          <pc:docMk/>
          <pc:sldMk cId="0" sldId="256"/>
        </pc:sldMkLst>
        <pc:spChg chg="mod">
          <ac:chgData name="Keshavamurthy YC" userId="bf6a1185fec05998" providerId="LiveId" clId="{DFF3F985-E1C4-4C93-9341-E6091D18B275}" dt="2024-07-03T07:33:03.824" v="78" actId="20577"/>
          <ac:spMkLst>
            <pc:docMk/>
            <pc:sldMk cId="0" sldId="256"/>
            <ac:spMk id="2" creationId="{96549883-8540-6668-D479-B7068ACA60DE}"/>
          </ac:spMkLst>
        </pc:spChg>
        <pc:spChg chg="mod">
          <ac:chgData name="Keshavamurthy YC" userId="bf6a1185fec05998" providerId="LiveId" clId="{DFF3F985-E1C4-4C93-9341-E6091D18B275}" dt="2024-07-03T07:31:18.458" v="48" actId="20577"/>
          <ac:spMkLst>
            <pc:docMk/>
            <pc:sldMk cId="0" sldId="256"/>
            <ac:spMk id="13" creationId="{4D62BE2B-B35B-D625-2122-05FD6EFD4E3C}"/>
          </ac:spMkLst>
        </pc:spChg>
        <pc:spChg chg="mod">
          <ac:chgData name="Keshavamurthy YC" userId="bf6a1185fec05998" providerId="LiveId" clId="{DFF3F985-E1C4-4C93-9341-E6091D18B275}" dt="2024-07-03T07:30:55.305" v="32" actId="20577"/>
          <ac:spMkLst>
            <pc:docMk/>
            <pc:sldMk cId="0" sldId="256"/>
            <ac:spMk id="172" creationId="{00000000-0000-0000-0000-000000000000}"/>
          </ac:spMkLst>
        </pc:spChg>
        <pc:spChg chg="mod">
          <ac:chgData name="Keshavamurthy YC" userId="bf6a1185fec05998" providerId="LiveId" clId="{DFF3F985-E1C4-4C93-9341-E6091D18B275}" dt="2024-07-03T07:31:10.839" v="37"/>
          <ac:spMkLst>
            <pc:docMk/>
            <pc:sldMk cId="0" sldId="256"/>
            <ac:spMk id="173" creationId="{00000000-0000-0000-0000-000000000000}"/>
          </ac:spMkLst>
        </pc:spChg>
        <pc:spChg chg="mod">
          <ac:chgData name="Keshavamurthy YC" userId="bf6a1185fec05998" providerId="LiveId" clId="{DFF3F985-E1C4-4C93-9341-E6091D18B275}" dt="2024-07-03T07:31:45.800" v="77" actId="1035"/>
          <ac:spMkLst>
            <pc:docMk/>
            <pc:sldMk cId="0" sldId="256"/>
            <ac:spMk id="174" creationId="{00000000-0000-0000-0000-000000000000}"/>
          </ac:spMkLst>
        </pc:spChg>
      </pc:sldChg>
    </pc:docChg>
  </pc:docChgLst>
  <pc:docChgLst>
    <pc:chgData name="Keshavamurthy YC" userId="bf6a1185fec05998" providerId="LiveId" clId="{8355D0B3-71DD-40A6-96C8-8B12F51E2007}"/>
    <pc:docChg chg="undo custSel modSld">
      <pc:chgData name="Keshavamurthy YC" userId="bf6a1185fec05998" providerId="LiveId" clId="{8355D0B3-71DD-40A6-96C8-8B12F51E2007}" dt="2024-04-04T09:32:51.772" v="163" actId="14100"/>
      <pc:docMkLst>
        <pc:docMk/>
      </pc:docMkLst>
      <pc:sldChg chg="addSp delSp modSp mod">
        <pc:chgData name="Keshavamurthy YC" userId="bf6a1185fec05998" providerId="LiveId" clId="{8355D0B3-71DD-40A6-96C8-8B12F51E2007}" dt="2024-04-04T09:32:51.772" v="163" actId="14100"/>
        <pc:sldMkLst>
          <pc:docMk/>
          <pc:sldMk cId="0" sldId="256"/>
        </pc:sldMkLst>
        <pc:spChg chg="mod">
          <ac:chgData name="Keshavamurthy YC" userId="bf6a1185fec05998" providerId="LiveId" clId="{8355D0B3-71DD-40A6-96C8-8B12F51E2007}" dt="2024-04-04T05:56:14.483" v="153" actId="1076"/>
          <ac:spMkLst>
            <pc:docMk/>
            <pc:sldMk cId="0" sldId="256"/>
            <ac:spMk id="2" creationId="{96549883-8540-6668-D479-B7068ACA60DE}"/>
          </ac:spMkLst>
        </pc:spChg>
        <pc:spChg chg="mod">
          <ac:chgData name="Keshavamurthy YC" userId="bf6a1185fec05998" providerId="LiveId" clId="{8355D0B3-71DD-40A6-96C8-8B12F51E2007}" dt="2024-04-04T05:56:09.546" v="152" actId="6549"/>
          <ac:spMkLst>
            <pc:docMk/>
            <pc:sldMk cId="0" sldId="256"/>
            <ac:spMk id="5" creationId="{0AD56C33-8595-63E3-6908-627CBDAC131B}"/>
          </ac:spMkLst>
        </pc:spChg>
        <pc:spChg chg="mod">
          <ac:chgData name="Keshavamurthy YC" userId="bf6a1185fec05998" providerId="LiveId" clId="{8355D0B3-71DD-40A6-96C8-8B12F51E2007}" dt="2024-04-04T05:53:36.936" v="96" actId="20577"/>
          <ac:spMkLst>
            <pc:docMk/>
            <pc:sldMk cId="0" sldId="256"/>
            <ac:spMk id="7" creationId="{ECCC3B4A-9606-90BB-BB04-2AC50E455D9E}"/>
          </ac:spMkLst>
        </pc:spChg>
        <pc:spChg chg="add mod">
          <ac:chgData name="Keshavamurthy YC" userId="bf6a1185fec05998" providerId="LiveId" clId="{8355D0B3-71DD-40A6-96C8-8B12F51E2007}" dt="2024-04-04T09:25:59.910" v="162" actId="1076"/>
          <ac:spMkLst>
            <pc:docMk/>
            <pc:sldMk cId="0" sldId="256"/>
            <ac:spMk id="8" creationId="{C3C138E0-EC15-F332-8FAA-6F2D3C197756}"/>
          </ac:spMkLst>
        </pc:spChg>
        <pc:spChg chg="del mod">
          <ac:chgData name="Keshavamurthy YC" userId="bf6a1185fec05998" providerId="LiveId" clId="{8355D0B3-71DD-40A6-96C8-8B12F51E2007}" dt="2024-04-04T05:52:35.528" v="59" actId="478"/>
          <ac:spMkLst>
            <pc:docMk/>
            <pc:sldMk cId="0" sldId="256"/>
            <ac:spMk id="9" creationId="{C5347F0B-98C5-A53D-574D-A42B8102849A}"/>
          </ac:spMkLst>
        </pc:spChg>
        <pc:spChg chg="mod">
          <ac:chgData name="Keshavamurthy YC" userId="bf6a1185fec05998" providerId="LiveId" clId="{8355D0B3-71DD-40A6-96C8-8B12F51E2007}" dt="2024-04-04T05:53:07.768" v="88" actId="20577"/>
          <ac:spMkLst>
            <pc:docMk/>
            <pc:sldMk cId="0" sldId="256"/>
            <ac:spMk id="10" creationId="{F5BD3962-3D08-292D-5F38-37E5A5B1CC5C}"/>
          </ac:spMkLst>
        </pc:spChg>
        <pc:spChg chg="add mod">
          <ac:chgData name="Keshavamurthy YC" userId="bf6a1185fec05998" providerId="LiveId" clId="{8355D0B3-71DD-40A6-96C8-8B12F51E2007}" dt="2024-04-04T05:53:31.430" v="94" actId="1076"/>
          <ac:spMkLst>
            <pc:docMk/>
            <pc:sldMk cId="0" sldId="256"/>
            <ac:spMk id="13" creationId="{4D62BE2B-B35B-D625-2122-05FD6EFD4E3C}"/>
          </ac:spMkLst>
        </pc:spChg>
        <pc:spChg chg="add mod">
          <ac:chgData name="Keshavamurthy YC" userId="bf6a1185fec05998" providerId="LiveId" clId="{8355D0B3-71DD-40A6-96C8-8B12F51E2007}" dt="2024-04-04T05:53:24.489" v="92" actId="1076"/>
          <ac:spMkLst>
            <pc:docMk/>
            <pc:sldMk cId="0" sldId="256"/>
            <ac:spMk id="14" creationId="{54A8FCE1-366B-E6EE-3D88-A2A7CAABDFD2}"/>
          </ac:spMkLst>
        </pc:spChg>
        <pc:spChg chg="mod">
          <ac:chgData name="Keshavamurthy YC" userId="bf6a1185fec05998" providerId="LiveId" clId="{8355D0B3-71DD-40A6-96C8-8B12F51E2007}" dt="2024-04-04T05:56:17.069" v="154" actId="1076"/>
          <ac:spMkLst>
            <pc:docMk/>
            <pc:sldMk cId="0" sldId="256"/>
            <ac:spMk id="149" creationId="{00000000-0000-0000-0000-000000000000}"/>
          </ac:spMkLst>
        </pc:spChg>
        <pc:spChg chg="mod">
          <ac:chgData name="Keshavamurthy YC" userId="bf6a1185fec05998" providerId="LiveId" clId="{8355D0B3-71DD-40A6-96C8-8B12F51E2007}" dt="2024-04-04T05:54:57.749" v="150" actId="20577"/>
          <ac:spMkLst>
            <pc:docMk/>
            <pc:sldMk cId="0" sldId="256"/>
            <ac:spMk id="172" creationId="{00000000-0000-0000-0000-000000000000}"/>
          </ac:spMkLst>
        </pc:spChg>
        <pc:spChg chg="mod">
          <ac:chgData name="Keshavamurthy YC" userId="bf6a1185fec05998" providerId="LiveId" clId="{8355D0B3-71DD-40A6-96C8-8B12F51E2007}" dt="2024-04-04T05:52:10.918" v="55" actId="20577"/>
          <ac:spMkLst>
            <pc:docMk/>
            <pc:sldMk cId="0" sldId="256"/>
            <ac:spMk id="173" creationId="{00000000-0000-0000-0000-000000000000}"/>
          </ac:spMkLst>
        </pc:spChg>
        <pc:spChg chg="mod">
          <ac:chgData name="Keshavamurthy YC" userId="bf6a1185fec05998" providerId="LiveId" clId="{8355D0B3-71DD-40A6-96C8-8B12F51E2007}" dt="2024-04-04T05:53:01.129" v="86" actId="20577"/>
          <ac:spMkLst>
            <pc:docMk/>
            <pc:sldMk cId="0" sldId="256"/>
            <ac:spMk id="174" creationId="{00000000-0000-0000-0000-000000000000}"/>
          </ac:spMkLst>
        </pc:spChg>
        <pc:spChg chg="add del">
          <ac:chgData name="Keshavamurthy YC" userId="bf6a1185fec05998" providerId="LiveId" clId="{8355D0B3-71DD-40A6-96C8-8B12F51E2007}" dt="2024-04-04T09:23:20.719" v="159" actId="478"/>
          <ac:spMkLst>
            <pc:docMk/>
            <pc:sldMk cId="0" sldId="256"/>
            <ac:spMk id="176" creationId="{00000000-0000-0000-0000-000000000000}"/>
          </ac:spMkLst>
        </pc:spChg>
        <pc:spChg chg="del mod">
          <ac:chgData name="Keshavamurthy YC" userId="bf6a1185fec05998" providerId="LiveId" clId="{8355D0B3-71DD-40A6-96C8-8B12F51E2007}" dt="2024-04-04T09:23:20.002" v="158" actId="478"/>
          <ac:spMkLst>
            <pc:docMk/>
            <pc:sldMk cId="0" sldId="256"/>
            <ac:spMk id="178" creationId="{00000000-0000-0000-0000-000000000000}"/>
          </ac:spMkLst>
        </pc:spChg>
        <pc:picChg chg="mod">
          <ac:chgData name="Keshavamurthy YC" userId="bf6a1185fec05998" providerId="LiveId" clId="{8355D0B3-71DD-40A6-96C8-8B12F51E2007}" dt="2024-04-04T09:32:51.772" v="163" actId="14100"/>
          <ac:picMkLst>
            <pc:docMk/>
            <pc:sldMk cId="0" sldId="256"/>
            <ac:picMk id="11" creationId="{7C2EFEC0-42F0-B598-C59C-701CF1C97309}"/>
          </ac:picMkLst>
        </pc:picChg>
        <pc:picChg chg="del">
          <ac:chgData name="Keshavamurthy YC" userId="bf6a1185fec05998" providerId="LiveId" clId="{8355D0B3-71DD-40A6-96C8-8B12F51E2007}" dt="2024-04-04T05:50:58.467" v="0" actId="478"/>
          <ac:picMkLst>
            <pc:docMk/>
            <pc:sldMk cId="0" sldId="256"/>
            <ac:picMk id="12" creationId="{4355FE5F-2608-7B12-2396-50050AE83C8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58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09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014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87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957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74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9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92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0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6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08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50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7720867" y="1962856"/>
            <a:ext cx="7316458" cy="19230332"/>
          </a:xfrm>
          <a:prstGeom prst="roundRect">
            <a:avLst>
              <a:gd name="adj" fmla="val 2556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endParaRPr sz="1172">
              <a:solidFill>
                <a:schemeClr val="dk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91439" y="41090"/>
            <a:ext cx="14935940" cy="179583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 algn="ctr">
              <a:buClr>
                <a:schemeClr val="dk1"/>
              </a:buClr>
              <a:buSzPts val="4000"/>
            </a:pPr>
            <a:r>
              <a:rPr lang="en-IN" sz="24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RV College of Engineering, Bengaluru – 560059.</a:t>
            </a: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97057" y="694056"/>
            <a:ext cx="12120998" cy="7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990000"/>
              </a:buClr>
              <a:buSzPts val="6000"/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Title: Design and Machining of Maruti Nandan</a:t>
            </a:r>
            <a:endParaRPr lang="en-IN" sz="2400" dirty="0"/>
          </a:p>
          <a:p>
            <a:pPr algn="ctr">
              <a:buClr>
                <a:srgbClr val="990000"/>
              </a:buClr>
              <a:buSzPts val="6000"/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 </a:t>
            </a:r>
            <a:endParaRPr sz="2512" b="1" dirty="0">
              <a:solidFill>
                <a:srgbClr val="52705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568116" y="1114989"/>
            <a:ext cx="12077139" cy="6541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Aryan Lodha | Roshan Kumar</a:t>
            </a:r>
          </a:p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1RV24IM064 | 1RV24IM039 </a:t>
            </a:r>
            <a:endParaRPr sz="2000" dirty="0">
              <a:solidFill>
                <a:srgbClr val="975329"/>
              </a:solidFill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846751" y="14774675"/>
            <a:ext cx="7049317" cy="1084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noAutofit/>
          </a:bodyPr>
          <a:lstStyle/>
          <a:p>
            <a:pPr marL="143538" indent="-74427">
              <a:lnSpc>
                <a:spcPct val="110000"/>
              </a:lnSpc>
              <a:buClr>
                <a:schemeClr val="dk1"/>
              </a:buClr>
              <a:buSzPts val="2600"/>
            </a:pPr>
            <a:endParaRPr sz="1088">
              <a:solidFill>
                <a:srgbClr val="00330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-350871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50871" y="11322617"/>
            <a:ext cx="77085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dk1"/>
              </a:solidFill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846751" y="16146261"/>
            <a:ext cx="5837217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accen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4210452" y="16241953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9345927" y="6340480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057203" y="6353771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0" y="294760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0" y="4231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191385" y="3828772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191385" y="4542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grpSp>
        <p:nvGrpSpPr>
          <p:cNvPr id="127" name="Google Shape;127;p1"/>
          <p:cNvGrpSpPr/>
          <p:nvPr/>
        </p:nvGrpSpPr>
        <p:grpSpPr>
          <a:xfrm>
            <a:off x="142752" y="1968997"/>
            <a:ext cx="7640273" cy="19230333"/>
            <a:chOff x="26374694" y="8524168"/>
            <a:chExt cx="18252192" cy="28277704"/>
          </a:xfrm>
        </p:grpSpPr>
        <p:grpSp>
          <p:nvGrpSpPr>
            <p:cNvPr id="128" name="Google Shape;128;p1"/>
            <p:cNvGrpSpPr/>
            <p:nvPr/>
          </p:nvGrpSpPr>
          <p:grpSpPr>
            <a:xfrm>
              <a:off x="26374694" y="8524168"/>
              <a:ext cx="18252192" cy="28277704"/>
              <a:chOff x="26287382" y="8000294"/>
              <a:chExt cx="18252192" cy="28277704"/>
            </a:xfrm>
          </p:grpSpPr>
          <p:sp>
            <p:nvSpPr>
              <p:cNvPr id="131" name="Google Shape;131;p1"/>
              <p:cNvSpPr/>
              <p:nvPr/>
            </p:nvSpPr>
            <p:spPr>
              <a:xfrm>
                <a:off x="26287382" y="8000294"/>
                <a:ext cx="17964396" cy="28277704"/>
              </a:xfrm>
              <a:prstGeom prst="roundRect">
                <a:avLst>
                  <a:gd name="adj" fmla="val 2556"/>
                </a:avLst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spcFirstLastPara="1" wrap="square" lIns="38271" tIns="19130" rIns="38271" bIns="19130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3600"/>
                </a:pPr>
                <a:endParaRPr lang="en-IN" sz="1507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>
                  <a:buClr>
                    <a:schemeClr val="dk1"/>
                  </a:buClr>
                  <a:buSzPts val="3600"/>
                </a:pPr>
                <a:r>
                  <a:rPr lang="en-IN" sz="1507"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             </a:t>
                </a:r>
                <a:endParaRPr sz="1507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9" name="Google Shape;149;p1"/>
              <p:cNvSpPr txBox="1"/>
              <p:nvPr/>
            </p:nvSpPr>
            <p:spPr>
              <a:xfrm>
                <a:off x="26615396" y="18012294"/>
                <a:ext cx="17924178" cy="49446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8271" tIns="19130" rIns="38271" bIns="19130" anchor="t" anchorCtr="0">
                <a:spAutoFit/>
              </a:bodyPr>
              <a:lstStyle/>
              <a:p>
                <a:r>
                  <a:rPr lang="en-IN" b="1" dirty="0"/>
                  <a:t>Primary</a:t>
                </a:r>
                <a:br>
                  <a:rPr lang="en-IN" dirty="0"/>
                </a:br>
                <a:r>
                  <a:rPr lang="en-IN" dirty="0"/>
                  <a:t>▶ Model "Maruti Nandan" in Fusion 360 using parametric CAD</a:t>
                </a:r>
                <a:br>
                  <a:rPr lang="en-IN" dirty="0"/>
                </a:br>
                <a:r>
                  <a:rPr lang="en-IN" dirty="0"/>
                  <a:t>▶ Generate and simulate CNC toolpaths (Pocket → Contour → Engrave)</a:t>
                </a:r>
                <a:br>
                  <a:rPr lang="en-IN" dirty="0"/>
                </a:br>
                <a:r>
                  <a:rPr lang="en-IN" dirty="0"/>
                  <a:t>▶ Machine the design on a CNC mill to ±0.2 mm accuracy</a:t>
                </a:r>
                <a:br>
                  <a:rPr lang="en-IN" dirty="0"/>
                </a:br>
                <a:r>
                  <a:rPr lang="en-IN" dirty="0"/>
                  <a:t>▶ Inspect and validate finished part against the CAD model</a:t>
                </a:r>
              </a:p>
              <a:p>
                <a:r>
                  <a:rPr lang="en-IN" b="1" dirty="0"/>
                  <a:t>Secondary</a:t>
                </a:r>
                <a:br>
                  <a:rPr lang="en-IN" dirty="0"/>
                </a:br>
                <a:r>
                  <a:rPr lang="en-IN" dirty="0"/>
                  <a:t>▶ Learn G-code structure and NC post-processing</a:t>
                </a:r>
                <a:br>
                  <a:rPr lang="en-IN" dirty="0"/>
                </a:br>
                <a:r>
                  <a:rPr lang="en-IN" dirty="0"/>
                  <a:t>▶ Observe industrial CAD/CAM through 3 factory visits</a:t>
                </a:r>
                <a:br>
                  <a:rPr lang="en-IN" dirty="0"/>
                </a:br>
                <a:r>
                  <a:rPr lang="en-IN" dirty="0"/>
                  <a:t>▶ Build skills in process planning, teamwork, and documentation</a:t>
                </a:r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  <a:sym typeface="Georgia" panose="02040502050405020303"/>
                </a:endParaRPr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  <a:sym typeface="Georgia" panose="02040502050405020303"/>
                </a:endParaRPr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  <a:sym typeface="Georgia" panose="02040502050405020303"/>
                </a:endParaRPr>
              </a:p>
            </p:txBody>
          </p:sp>
        </p:grpSp>
        <p:sp>
          <p:nvSpPr>
            <p:cNvPr id="150" name="Google Shape;150;p1"/>
            <p:cNvSpPr txBox="1"/>
            <p:nvPr/>
          </p:nvSpPr>
          <p:spPr>
            <a:xfrm>
              <a:off x="26650065" y="8801931"/>
              <a:ext cx="17344338" cy="494637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8271" tIns="19130" rIns="38271" bIns="19130" anchor="t" anchorCtr="0">
              <a:spAutoFit/>
            </a:bodyPr>
            <a:lstStyle/>
            <a:p>
              <a:pPr>
                <a:buClr>
                  <a:srgbClr val="002060"/>
                </a:buClr>
                <a:buSzPts val="4400"/>
              </a:pPr>
              <a:r>
                <a:rPr lang="en-IN" sz="1842" b="1" dirty="0">
                  <a:solidFill>
                    <a:srgbClr val="002060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  <a:sym typeface="Comic Sans MS" panose="030F0702030302020204"/>
                </a:rPr>
                <a:t>                           Introduction</a:t>
              </a:r>
              <a:endParaRPr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endParaRPr>
            </a:p>
          </p:txBody>
        </p:sp>
      </p:grpSp>
      <p:sp>
        <p:nvSpPr>
          <p:cNvPr id="161" name="Google Shape;161;p1"/>
          <p:cNvSpPr txBox="1"/>
          <p:nvPr/>
        </p:nvSpPr>
        <p:spPr>
          <a:xfrm>
            <a:off x="424665" y="16214823"/>
            <a:ext cx="6830161" cy="270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marL="239230" indent="-143538">
              <a:buClr>
                <a:schemeClr val="dk1"/>
              </a:buClr>
              <a:buSzPts val="3600"/>
            </a:pPr>
            <a:endParaRPr sz="1507">
              <a:solidFill>
                <a:schemeClr val="dk1"/>
              </a:solidFill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206435" y="11315071"/>
            <a:ext cx="7397264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Methodology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7801192" y="2145342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Tools used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7783025" y="5932608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Results and Discussions</a:t>
            </a:r>
          </a:p>
        </p:txBody>
      </p:sp>
      <p:sp>
        <p:nvSpPr>
          <p:cNvPr id="174" name="Google Shape;174;p1"/>
          <p:cNvSpPr txBox="1"/>
          <p:nvPr/>
        </p:nvSpPr>
        <p:spPr>
          <a:xfrm>
            <a:off x="7822661" y="18045137"/>
            <a:ext cx="7097496" cy="34641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/>
            <a:r>
              <a:rPr lang="en-IN" sz="2000" b="1" i="0" dirty="0">
                <a:effectLst/>
                <a:latin typeface="Söhne"/>
              </a:rPr>
              <a:t>References</a:t>
            </a:r>
          </a:p>
        </p:txBody>
      </p:sp>
      <p:sp>
        <p:nvSpPr>
          <p:cNvPr id="179" name="Google Shape;179;p1"/>
          <p:cNvSpPr txBox="1"/>
          <p:nvPr/>
        </p:nvSpPr>
        <p:spPr>
          <a:xfrm>
            <a:off x="12921869" y="111045"/>
            <a:ext cx="2207895" cy="263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16" rIns="0" bIns="0" anchor="t" anchorCtr="0">
            <a:spAutoFit/>
          </a:bodyPr>
          <a:lstStyle/>
          <a:p>
            <a:pPr marL="5316"/>
            <a:r>
              <a:rPr lang="en-IN" sz="1674" i="1" dirty="0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1674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" name="Google Shape;150;p1">
            <a:extLst>
              <a:ext uri="{FF2B5EF4-FFF2-40B4-BE49-F238E27FC236}">
                <a16:creationId xmlns:a16="http://schemas.microsoft.com/office/drawing/2014/main" id="{96549883-8540-6668-D479-B7068ACA60DE}"/>
              </a:ext>
            </a:extLst>
          </p:cNvPr>
          <p:cNvSpPr txBox="1"/>
          <p:nvPr/>
        </p:nvSpPr>
        <p:spPr>
          <a:xfrm>
            <a:off x="299159" y="8428447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Objectives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3" name="Google Shape;149;p1">
            <a:extLst>
              <a:ext uri="{FF2B5EF4-FFF2-40B4-BE49-F238E27FC236}">
                <a16:creationId xmlns:a16="http://schemas.microsoft.com/office/drawing/2014/main" id="{D84E6594-496A-649E-D408-EC8C95C89896}"/>
              </a:ext>
            </a:extLst>
          </p:cNvPr>
          <p:cNvSpPr txBox="1"/>
          <p:nvPr/>
        </p:nvSpPr>
        <p:spPr>
          <a:xfrm>
            <a:off x="246805" y="2596470"/>
            <a:ext cx="7200651" cy="447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just"/>
            <a:r>
              <a:rPr lang="en-IN" dirty="0"/>
              <a:t>This project demonstrates a complete </a:t>
            </a:r>
            <a:r>
              <a:rPr lang="en-IN" b="1" dirty="0"/>
              <a:t>CAD-to-CNC manufacturing workflow</a:t>
            </a:r>
            <a:r>
              <a:rPr lang="en-IN" dirty="0"/>
              <a:t> through the design and machining of </a:t>
            </a:r>
            <a:r>
              <a:rPr lang="en-IN" i="1" dirty="0"/>
              <a:t>"Maruti Nandan"</a:t>
            </a:r>
            <a:r>
              <a:rPr lang="en-IN" dirty="0"/>
              <a:t> — a decorative engraved aluminium plaque. Using </a:t>
            </a:r>
            <a:r>
              <a:rPr lang="en-IN" b="1" dirty="0"/>
              <a:t>Autodesk Fusion 360</a:t>
            </a:r>
            <a:r>
              <a:rPr lang="en-IN" dirty="0"/>
              <a:t> for 3D modelling and CAM programming, the design was physically manufactured on a </a:t>
            </a:r>
            <a:r>
              <a:rPr lang="en-IN" b="1" dirty="0"/>
              <a:t>3-axis CNC milling machine</a:t>
            </a:r>
            <a:r>
              <a:rPr lang="en-IN" dirty="0"/>
              <a:t>, bridging the gap between classroom theory and real-world manufacturing practice.</a:t>
            </a:r>
          </a:p>
          <a:p>
            <a:pPr algn="just"/>
            <a:r>
              <a:rPr lang="en-IN" dirty="0"/>
              <a:t>As part of the EL programme, the team also visited </a:t>
            </a:r>
            <a:r>
              <a:rPr lang="en-IN" b="1" dirty="0"/>
              <a:t>3 manufacturing industries in </a:t>
            </a:r>
            <a:r>
              <a:rPr lang="en-IN" b="1" dirty="0" err="1"/>
              <a:t>Peenya</a:t>
            </a:r>
            <a:r>
              <a:rPr lang="en-IN" b="1" dirty="0"/>
              <a:t>, Bengaluru</a:t>
            </a:r>
            <a:r>
              <a:rPr lang="en-IN" dirty="0"/>
              <a:t> — gaining first-hand exposure to industrial CAD/CAM, CNC technology, and shop-floor management.</a:t>
            </a: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/>
          </a:p>
        </p:txBody>
      </p:sp>
      <p:sp>
        <p:nvSpPr>
          <p:cNvPr id="4" name="Google Shape;150;p1">
            <a:extLst>
              <a:ext uri="{FF2B5EF4-FFF2-40B4-BE49-F238E27FC236}">
                <a16:creationId xmlns:a16="http://schemas.microsoft.com/office/drawing/2014/main" id="{6F6964B9-9CEB-4BB5-CA66-443F445C218E}"/>
              </a:ext>
            </a:extLst>
          </p:cNvPr>
          <p:cNvSpPr txBox="1"/>
          <p:nvPr/>
        </p:nvSpPr>
        <p:spPr>
          <a:xfrm>
            <a:off x="246806" y="5139250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Problem Definition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5" name="Google Shape;149;p1">
            <a:extLst>
              <a:ext uri="{FF2B5EF4-FFF2-40B4-BE49-F238E27FC236}">
                <a16:creationId xmlns:a16="http://schemas.microsoft.com/office/drawing/2014/main" id="{0AD56C33-8595-63E3-6908-627CBDAC131B}"/>
              </a:ext>
            </a:extLst>
          </p:cNvPr>
          <p:cNvSpPr txBox="1"/>
          <p:nvPr/>
        </p:nvSpPr>
        <p:spPr>
          <a:xfrm>
            <a:off x="292559" y="5541823"/>
            <a:ext cx="7311140" cy="4747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r>
              <a:rPr lang="en-IN" dirty="0"/>
              <a:t>Engineering students learn CAD and CAM as </a:t>
            </a:r>
            <a:r>
              <a:rPr lang="en-IN" b="1" dirty="0"/>
              <a:t>separate, theoretical subjects</a:t>
            </a:r>
            <a:r>
              <a:rPr lang="en-IN" dirty="0"/>
              <a:t> — with no hands-on experience connecting a digital design to an actual machined part.</a:t>
            </a:r>
          </a:p>
          <a:p>
            <a:r>
              <a:rPr lang="en-IN" b="1" dirty="0"/>
              <a:t>The core question this project answers:</a:t>
            </a:r>
            <a:br>
              <a:rPr lang="en-IN" dirty="0"/>
            </a:br>
            <a:r>
              <a:rPr lang="en-IN" i="1" dirty="0"/>
              <a:t>How do you take a design from a screen and turn it into a real, accurate, physical component using CNC machining?</a:t>
            </a:r>
            <a:endParaRPr lang="en-IN" dirty="0"/>
          </a:p>
          <a:p>
            <a:r>
              <a:rPr lang="en-IN" dirty="0"/>
              <a:t>▶ No practical exposure to G-code, toolpath planning, or WCS setup</a:t>
            </a:r>
            <a:br>
              <a:rPr lang="en-IN" dirty="0"/>
            </a:br>
            <a:r>
              <a:rPr lang="en-IN" dirty="0"/>
              <a:t>▶ Gap between simulation and actual machine operation</a:t>
            </a:r>
            <a:br>
              <a:rPr lang="en-IN" dirty="0"/>
            </a:br>
            <a:r>
              <a:rPr lang="en-IN" dirty="0"/>
              <a:t>▶ Industries in automotive, aerospace &amp; defence depend on this exact workflow daily — students need to experience it, not just read about it</a:t>
            </a: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latin typeface="Bookman Old Style" panose="02050604050505020204" pitchFamily="18" charset="0"/>
              <a:sym typeface="Georgia" panose="02040502050405020303"/>
            </a:endParaRPr>
          </a:p>
        </p:txBody>
      </p:sp>
      <p:sp>
        <p:nvSpPr>
          <p:cNvPr id="7" name="Google Shape;149;p1">
            <a:extLst>
              <a:ext uri="{FF2B5EF4-FFF2-40B4-BE49-F238E27FC236}">
                <a16:creationId xmlns:a16="http://schemas.microsoft.com/office/drawing/2014/main" id="{ECCC3B4A-9606-90BB-BB04-2AC50E455D9E}"/>
              </a:ext>
            </a:extLst>
          </p:cNvPr>
          <p:cNvSpPr txBox="1"/>
          <p:nvPr/>
        </p:nvSpPr>
        <p:spPr>
          <a:xfrm>
            <a:off x="7912137" y="2616364"/>
            <a:ext cx="7008020" cy="336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latin typeface="Bookman Old Style" panose="02050604050505020204" pitchFamily="18" charset="0"/>
              <a:sym typeface="Georgia" panose="02040502050405020303"/>
            </a:endParaRPr>
          </a:p>
        </p:txBody>
      </p:sp>
      <p:sp>
        <p:nvSpPr>
          <p:cNvPr id="10" name="Google Shape;149;p1">
            <a:extLst>
              <a:ext uri="{FF2B5EF4-FFF2-40B4-BE49-F238E27FC236}">
                <a16:creationId xmlns:a16="http://schemas.microsoft.com/office/drawing/2014/main" id="{F5BD3962-3D08-292D-5F38-37E5A5B1CC5C}"/>
              </a:ext>
            </a:extLst>
          </p:cNvPr>
          <p:cNvSpPr txBox="1"/>
          <p:nvPr/>
        </p:nvSpPr>
        <p:spPr>
          <a:xfrm>
            <a:off x="7852410" y="18401154"/>
            <a:ext cx="7080727" cy="4839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marL="342900" lvl="0" indent="-342900" algn="just">
              <a:buClr>
                <a:schemeClr val="dk1"/>
              </a:buClr>
              <a:buSzPct val="90000"/>
              <a:buFont typeface="+mj-lt"/>
              <a:buAutoNum type="alphaLcParenR"/>
            </a:pPr>
            <a:r>
              <a:rPr lang="en-IN" dirty="0"/>
              <a:t>Autodesk Inc. (2024). </a:t>
            </a:r>
            <a:r>
              <a:rPr lang="en-IN" i="1" dirty="0"/>
              <a:t>Fusion 360 Documentation.</a:t>
            </a:r>
            <a:r>
              <a:rPr lang="en-IN" dirty="0"/>
              <a:t> autodesk.com </a:t>
            </a:r>
          </a:p>
          <a:p>
            <a:pPr marL="342900" lvl="0" indent="-342900" algn="just">
              <a:buClr>
                <a:schemeClr val="dk1"/>
              </a:buClr>
              <a:buSzPct val="90000"/>
              <a:buFont typeface="+mj-lt"/>
              <a:buAutoNum type="alphaLcParenR"/>
            </a:pPr>
            <a:r>
              <a:rPr lang="en-IN" dirty="0"/>
              <a:t>Groover, M.P. (2020). </a:t>
            </a:r>
            <a:r>
              <a:rPr lang="en-IN" i="1" dirty="0"/>
              <a:t>Fundamentals of Modern Manufacturing</a:t>
            </a:r>
            <a:r>
              <a:rPr lang="en-IN" dirty="0"/>
              <a:t>, 6th Ed. Wiley. </a:t>
            </a:r>
          </a:p>
          <a:p>
            <a:pPr marL="342900" lvl="0" indent="-342900" algn="just">
              <a:buClr>
                <a:schemeClr val="dk1"/>
              </a:buClr>
              <a:buSzPct val="90000"/>
              <a:buFont typeface="+mj-lt"/>
              <a:buAutoNum type="alphaLcParenR"/>
            </a:pPr>
            <a:r>
              <a:rPr lang="en-IN" dirty="0" err="1"/>
              <a:t>Kalpakjian</a:t>
            </a:r>
            <a:r>
              <a:rPr lang="en-IN" dirty="0"/>
              <a:t> &amp; Schmid (2022). </a:t>
            </a:r>
            <a:r>
              <a:rPr lang="en-IN" i="1" dirty="0"/>
              <a:t>Manufacturing Engineering &amp; Technology</a:t>
            </a:r>
            <a:r>
              <a:rPr lang="en-IN" dirty="0"/>
              <a:t>, 8th Ed. Pearson. </a:t>
            </a:r>
          </a:p>
          <a:p>
            <a:pPr marL="342900" lvl="0" indent="-342900" algn="just">
              <a:buClr>
                <a:schemeClr val="dk1"/>
              </a:buClr>
              <a:buSzPct val="90000"/>
              <a:buFont typeface="+mj-lt"/>
              <a:buAutoNum type="alphaLcParenR"/>
            </a:pPr>
            <a:r>
              <a:rPr lang="en-IN" dirty="0"/>
              <a:t>Smid, P. (2010). </a:t>
            </a:r>
            <a:r>
              <a:rPr lang="en-IN" i="1" dirty="0"/>
              <a:t>CNC Programming Handbook</a:t>
            </a:r>
            <a:r>
              <a:rPr lang="en-IN" dirty="0"/>
              <a:t>, 3rd Ed. Industrial Press. Industry Visits — Sands Precision </a:t>
            </a:r>
            <a:r>
              <a:rPr lang="en-IN" dirty="0" err="1"/>
              <a:t>Pvt.</a:t>
            </a:r>
            <a:r>
              <a:rPr lang="en-IN" dirty="0"/>
              <a:t> Ltd. </a:t>
            </a:r>
            <a:r>
              <a:rPr lang="en-IN" i="1" dirty="0"/>
              <a:t>(Guide: Mr. Dinesh Karanth)</a:t>
            </a:r>
            <a:r>
              <a:rPr lang="en-IN" dirty="0"/>
              <a:t>, United Concord Industries, Sree Ranga Engineering Works, </a:t>
            </a:r>
            <a:r>
              <a:rPr lang="en-IN" dirty="0" err="1"/>
              <a:t>Peenya</a:t>
            </a:r>
            <a:r>
              <a:rPr lang="en-IN" dirty="0"/>
              <a:t>, Bengaluru. May 2025. </a:t>
            </a:r>
          </a:p>
          <a:p>
            <a:pPr marL="342900" lvl="0" indent="-342900" algn="just">
              <a:buClr>
                <a:schemeClr val="dk1"/>
              </a:buClr>
              <a:buSzPct val="90000"/>
              <a:buFont typeface="+mj-lt"/>
              <a:buAutoNum type="alphaLcParenR"/>
            </a:pPr>
            <a:r>
              <a:rPr lang="en-IN" dirty="0"/>
              <a:t>RVCE (2025). </a:t>
            </a:r>
            <a:r>
              <a:rPr lang="en-IN" i="1" dirty="0"/>
              <a:t>CAD/CAM EL Guidelines.</a:t>
            </a:r>
            <a:r>
              <a:rPr lang="en-IN" dirty="0"/>
              <a:t> Dept. of IEM, Bengaluru.</a:t>
            </a: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pic>
        <p:nvPicPr>
          <p:cNvPr id="11" name="Picture 2" descr="May be an image of text that says &quot;R RASHTREEYA R SIKSHANA SAMITHI SAMAITHI V TRUST INSTITUTIONS&quot;">
            <a:extLst>
              <a:ext uri="{FF2B5EF4-FFF2-40B4-BE49-F238E27FC236}">
                <a16:creationId xmlns:a16="http://schemas.microsoft.com/office/drawing/2014/main" id="{7C2EFEC0-42F0-B598-C59C-701CF1C97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92" y="111045"/>
            <a:ext cx="1655508" cy="165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92;p1">
            <a:extLst>
              <a:ext uri="{FF2B5EF4-FFF2-40B4-BE49-F238E27FC236}">
                <a16:creationId xmlns:a16="http://schemas.microsoft.com/office/drawing/2014/main" id="{C3C138E0-EC15-F332-8FAA-6F2D3C197756}"/>
              </a:ext>
            </a:extLst>
          </p:cNvPr>
          <p:cNvSpPr txBox="1"/>
          <p:nvPr/>
        </p:nvSpPr>
        <p:spPr>
          <a:xfrm>
            <a:off x="9752568" y="1264941"/>
            <a:ext cx="5143500" cy="40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990000"/>
              </a:buClr>
              <a:buSzPts val="6000"/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CAD/CAM &amp; ROBOTICS PBL</a:t>
            </a:r>
            <a:endParaRPr sz="2512" b="1" dirty="0">
              <a:solidFill>
                <a:srgbClr val="52705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13" name="Google Shape;173;p1">
            <a:extLst>
              <a:ext uri="{FF2B5EF4-FFF2-40B4-BE49-F238E27FC236}">
                <a16:creationId xmlns:a16="http://schemas.microsoft.com/office/drawing/2014/main" id="{4D62BE2B-B35B-D625-2122-05FD6EFD4E3C}"/>
              </a:ext>
            </a:extLst>
          </p:cNvPr>
          <p:cNvSpPr txBox="1"/>
          <p:nvPr/>
        </p:nvSpPr>
        <p:spPr>
          <a:xfrm>
            <a:off x="7773922" y="11845328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Conclusions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" name="Google Shape;149;p1">
            <a:extLst>
              <a:ext uri="{FF2B5EF4-FFF2-40B4-BE49-F238E27FC236}">
                <a16:creationId xmlns:a16="http://schemas.microsoft.com/office/drawing/2014/main" id="{54A8FCE1-366B-E6EE-3D88-A2A7CAABDFD2}"/>
              </a:ext>
            </a:extLst>
          </p:cNvPr>
          <p:cNvSpPr txBox="1"/>
          <p:nvPr/>
        </p:nvSpPr>
        <p:spPr>
          <a:xfrm>
            <a:off x="7822661" y="14972782"/>
            <a:ext cx="7008020" cy="234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6" name="Google Shape;173;p1">
            <a:extLst>
              <a:ext uri="{FF2B5EF4-FFF2-40B4-BE49-F238E27FC236}">
                <a16:creationId xmlns:a16="http://schemas.microsoft.com/office/drawing/2014/main" id="{4D62BE2B-B35B-D625-2122-05FD6EFD4E3C}"/>
              </a:ext>
            </a:extLst>
          </p:cNvPr>
          <p:cNvSpPr txBox="1"/>
          <p:nvPr/>
        </p:nvSpPr>
        <p:spPr>
          <a:xfrm>
            <a:off x="7764725" y="15398463"/>
            <a:ext cx="7330911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Outcome of the work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47" name="Google Shape;149;p1"/>
          <p:cNvSpPr txBox="1"/>
          <p:nvPr/>
        </p:nvSpPr>
        <p:spPr>
          <a:xfrm>
            <a:off x="7835641" y="15736801"/>
            <a:ext cx="7161012" cy="308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r>
              <a:rPr lang="en-IN" b="1" dirty="0"/>
              <a:t>Deliverables:</a:t>
            </a:r>
            <a:br>
              <a:rPr lang="en-IN" dirty="0"/>
            </a:br>
            <a:r>
              <a:rPr lang="en-IN" dirty="0"/>
              <a:t>▶ CNC-machined "Maruti Nandan" aluminium plaque — 150×100×10 mm, ±0.2 mm accuracy</a:t>
            </a:r>
            <a:br>
              <a:rPr lang="en-IN" dirty="0"/>
            </a:br>
            <a:r>
              <a:rPr lang="en-IN" dirty="0"/>
              <a:t>▶ Fusion 360 CAD file (.f3d) and verified NC G-code (.</a:t>
            </a:r>
            <a:r>
              <a:rPr lang="en-IN" dirty="0" err="1"/>
              <a:t>nc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▶ Industry visit documentation — </a:t>
            </a:r>
            <a:r>
              <a:rPr lang="en-IN" dirty="0" err="1"/>
              <a:t>Peenya</a:t>
            </a:r>
            <a:r>
              <a:rPr lang="en-IN" dirty="0"/>
              <a:t>, Bengaluru</a:t>
            </a:r>
          </a:p>
          <a:p>
            <a:r>
              <a:rPr lang="en-IN" b="1" dirty="0"/>
              <a:t>Future Scope:</a:t>
            </a:r>
            <a:br>
              <a:rPr lang="en-IN" dirty="0"/>
            </a:br>
            <a:r>
              <a:rPr lang="en-IN" dirty="0"/>
              <a:t>4-axis CNC machining | Steel/SS materials | Mould &amp; die applications | Additive manufacturing integration</a:t>
            </a: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11DD9C3-143E-414F-5E42-5677D3DD2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6457" y="6374783"/>
            <a:ext cx="2574961" cy="2670747"/>
          </a:xfrm>
          <a:prstGeom prst="rect">
            <a:avLst/>
          </a:prstGeom>
        </p:spPr>
      </p:pic>
      <p:sp>
        <p:nvSpPr>
          <p:cNvPr id="19" name="Google Shape;149;p1">
            <a:extLst>
              <a:ext uri="{FF2B5EF4-FFF2-40B4-BE49-F238E27FC236}">
                <a16:creationId xmlns:a16="http://schemas.microsoft.com/office/drawing/2014/main" id="{39CC0532-3C73-94C1-5B5E-A404BAC6D257}"/>
              </a:ext>
            </a:extLst>
          </p:cNvPr>
          <p:cNvSpPr txBox="1"/>
          <p:nvPr/>
        </p:nvSpPr>
        <p:spPr>
          <a:xfrm>
            <a:off x="7863398" y="12328431"/>
            <a:ext cx="7008020" cy="39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r>
              <a:rPr lang="en-IN" dirty="0"/>
              <a:t>The project successfully demonstrated an end-to-end </a:t>
            </a:r>
            <a:r>
              <a:rPr lang="en-IN" b="1" dirty="0"/>
              <a:t>CAD → CAM → CNC manufacturing workflow</a:t>
            </a:r>
            <a:r>
              <a:rPr lang="en-IN" dirty="0"/>
              <a:t> using Autodesk Fusion 360 and a 3-axis CNC milling machine.</a:t>
            </a:r>
          </a:p>
          <a:p>
            <a:r>
              <a:rPr lang="en-IN" dirty="0"/>
              <a:t>▶ All primary and secondary objectives achieved within the 6-week timeline</a:t>
            </a:r>
            <a:br>
              <a:rPr lang="en-IN" dirty="0"/>
            </a:br>
            <a:r>
              <a:rPr lang="en-IN" dirty="0"/>
              <a:t>▶ Toolpath simulation proved essential — prevented tool collision before physical machining</a:t>
            </a:r>
            <a:br>
              <a:rPr lang="en-IN" dirty="0"/>
            </a:br>
            <a:r>
              <a:rPr lang="en-IN" dirty="0"/>
              <a:t>▶ Accurate WCS setup was the key determinant of dimensional conformance</a:t>
            </a:r>
            <a:br>
              <a:rPr lang="en-IN" dirty="0"/>
            </a:br>
            <a:r>
              <a:rPr lang="en-IN" dirty="0"/>
              <a:t>▶ Industry visits validated that the same CAD/CAM principles operate across all manufacturing scales</a:t>
            </a: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C007BDA-E1EC-7E31-1352-D4A3DC880C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436417" y="11540074"/>
            <a:ext cx="12282555" cy="9935887"/>
          </a:xfrm>
          <a:prstGeom prst="rect">
            <a:avLst/>
          </a:prstGeom>
        </p:spPr>
      </p:pic>
      <p:sp>
        <p:nvSpPr>
          <p:cNvPr id="22" name="Google Shape;149;p1">
            <a:extLst>
              <a:ext uri="{FF2B5EF4-FFF2-40B4-BE49-F238E27FC236}">
                <a16:creationId xmlns:a16="http://schemas.microsoft.com/office/drawing/2014/main" id="{54F83165-FDD1-A22C-7434-D9D3D75DC7AB}"/>
              </a:ext>
            </a:extLst>
          </p:cNvPr>
          <p:cNvSpPr txBox="1"/>
          <p:nvPr/>
        </p:nvSpPr>
        <p:spPr>
          <a:xfrm>
            <a:off x="7928397" y="8186361"/>
            <a:ext cx="7035059" cy="447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r>
              <a:rPr lang="en-IN" b="1" dirty="0"/>
              <a:t>Iterations made:</a:t>
            </a:r>
            <a:br>
              <a:rPr lang="en-IN" dirty="0"/>
            </a:br>
            <a:r>
              <a:rPr lang="en-IN" dirty="0"/>
              <a:t>▶ Tool collision caught in simulation → </a:t>
            </a:r>
          </a:p>
          <a:p>
            <a:r>
              <a:rPr lang="en-IN" dirty="0"/>
              <a:t>clearance height corrected before machining</a:t>
            </a:r>
            <a:br>
              <a:rPr lang="en-IN" dirty="0"/>
            </a:br>
            <a:r>
              <a:rPr lang="en-IN" dirty="0"/>
              <a:t>▶ Chatter on first engraving run → feed rate reduced 600 to 500 mm/min</a:t>
            </a:r>
            <a:br>
              <a:rPr lang="en-IN" dirty="0"/>
            </a:br>
            <a:r>
              <a:rPr lang="en-IN" dirty="0"/>
              <a:t>▶ Z-depth error → WCS re-zeroed after rough pass</a:t>
            </a:r>
            <a:br>
              <a:rPr lang="en-IN" dirty="0"/>
            </a:br>
            <a:r>
              <a:rPr lang="en-IN" dirty="0"/>
              <a:t>▶ Feature too small for V-bit → enlarged in CAD and re-run</a:t>
            </a:r>
          </a:p>
          <a:p>
            <a:endParaRPr lang="en-IN" dirty="0"/>
          </a:p>
          <a:p>
            <a:r>
              <a:rPr lang="en-IN" b="1" dirty="0"/>
              <a:t>Industry visits — key takeaways:</a:t>
            </a:r>
            <a:br>
              <a:rPr lang="en-IN" dirty="0"/>
            </a:br>
            <a:r>
              <a:rPr lang="en-IN" dirty="0"/>
              <a:t>▶ Sands Precision — 45% utilisation, CMM inspection, builds CNC machines</a:t>
            </a:r>
            <a:br>
              <a:rPr lang="en-IN" dirty="0"/>
            </a:br>
            <a:r>
              <a:rPr lang="en-IN" dirty="0"/>
              <a:t>▶ United Concord — 85% utilisation, lean manufacturing, 250+ staff</a:t>
            </a:r>
            <a:br>
              <a:rPr lang="en-IN" dirty="0"/>
            </a:br>
            <a:r>
              <a:rPr lang="en-IN" dirty="0"/>
              <a:t>▶ Sree Ranga Engineering — CNC laser cutting, SolidWorks/AutoCAD; same CAD/CAM pipeline as our project</a:t>
            </a: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</p:txBody>
      </p:sp>
      <p:sp>
        <p:nvSpPr>
          <p:cNvPr id="24" name="Google Shape;149;p1">
            <a:extLst>
              <a:ext uri="{FF2B5EF4-FFF2-40B4-BE49-F238E27FC236}">
                <a16:creationId xmlns:a16="http://schemas.microsoft.com/office/drawing/2014/main" id="{CC39789C-4B40-7A7A-7E40-9F0CA8C16EDF}"/>
              </a:ext>
            </a:extLst>
          </p:cNvPr>
          <p:cNvSpPr txBox="1"/>
          <p:nvPr/>
        </p:nvSpPr>
        <p:spPr>
          <a:xfrm>
            <a:off x="7866239" y="6348470"/>
            <a:ext cx="4313050" cy="25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4000"/>
            </a:pPr>
            <a:r>
              <a:rPr lang="en-IN" dirty="0"/>
              <a:t>The "</a:t>
            </a:r>
            <a:r>
              <a:rPr lang="en-IN" b="1" dirty="0"/>
              <a:t>Maruti Nandan</a:t>
            </a:r>
            <a:r>
              <a:rPr lang="en-IN" dirty="0"/>
              <a:t>" engraved plaque was successfully machined — </a:t>
            </a:r>
            <a:r>
              <a:rPr lang="en-IN" b="1" dirty="0"/>
              <a:t>text sharp</a:t>
            </a:r>
            <a:r>
              <a:rPr lang="en-IN" dirty="0"/>
              <a:t>, legible, and dimensionally accurate to </a:t>
            </a:r>
            <a:r>
              <a:rPr lang="en-IN" b="1" dirty="0"/>
              <a:t>±0.2 mm </a:t>
            </a:r>
            <a:r>
              <a:rPr lang="en-IN" dirty="0"/>
              <a:t>vs. the CAD model. Total machining time: </a:t>
            </a:r>
            <a:r>
              <a:rPr lang="en-IN" b="1" dirty="0"/>
              <a:t>~55 min </a:t>
            </a:r>
            <a:r>
              <a:rPr lang="en-IN" dirty="0"/>
              <a:t>across 3 operations (</a:t>
            </a:r>
            <a:r>
              <a:rPr lang="en-IN" b="1" dirty="0"/>
              <a:t>Roughing</a:t>
            </a:r>
            <a:r>
              <a:rPr lang="en-IN" dirty="0"/>
              <a:t> → </a:t>
            </a:r>
            <a:r>
              <a:rPr lang="en-IN" b="1" dirty="0"/>
              <a:t>Contouring</a:t>
            </a:r>
            <a:r>
              <a:rPr lang="en-IN" dirty="0"/>
              <a:t> → </a:t>
            </a:r>
            <a:r>
              <a:rPr lang="en-IN" b="1" dirty="0"/>
              <a:t>Engraving</a:t>
            </a:r>
            <a:r>
              <a:rPr lang="en-IN" dirty="0"/>
              <a:t>).</a:t>
            </a: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784165A-05F5-4C5A-5C74-DC8784BE547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73" t="14488" r="4294" b="1615"/>
          <a:stretch>
            <a:fillRect/>
          </a:stretch>
        </p:blipFill>
        <p:spPr>
          <a:xfrm>
            <a:off x="7830112" y="2595863"/>
            <a:ext cx="7042420" cy="32673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391</TotalTime>
  <Words>762</Words>
  <Application>Microsoft Office PowerPoint</Application>
  <PresentationFormat>Custom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Georgia</vt:lpstr>
      <vt:lpstr>Bookman Old Style</vt:lpstr>
      <vt:lpstr>Söhne</vt:lpstr>
      <vt:lpstr>Times New Roman</vt:lpstr>
      <vt:lpstr>Playfair Display</vt:lpstr>
      <vt:lpstr>Arial</vt:lpstr>
      <vt:lpstr>Trebuchet MS</vt:lpstr>
      <vt:lpstr>Tahoma</vt:lpstr>
      <vt:lpstr>Calibri</vt:lpstr>
      <vt:lpstr>Comic Sans MS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india</dc:creator>
  <cp:lastModifiedBy>aryannlodha@gmail.com</cp:lastModifiedBy>
  <cp:revision>28</cp:revision>
  <cp:lastPrinted>2024-01-29T05:31:42Z</cp:lastPrinted>
  <dcterms:created xsi:type="dcterms:W3CDTF">2020-07-26T16:54:19Z</dcterms:created>
  <dcterms:modified xsi:type="dcterms:W3CDTF">2026-06-23T07:16:01Z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1033-11.2.0.9453</vt:lpwstr>
  </property>
</Properties>
</file>